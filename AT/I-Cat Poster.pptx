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</p:sldIdLst>
  <p:sldSz cx="32918400" cy="21945600"/>
  <p:notesSz cx="6858000" cy="9144000"/>
  <p:embeddedFontLst>
    <p:embeddedFont>
      <p:font typeface="Cambria Math" panose="02040503050406030204" pitchFamily="18" charset="0"/>
      <p:regular r:id="rId3"/>
    </p:embeddedFont>
    <p:embeddedFont>
      <p:font typeface="Open Sans" panose="020B0606030504020204" pitchFamily="34" charset="0"/>
      <p:regular r:id="rId4"/>
      <p:bold r:id="rId5"/>
      <p:italic r:id="rId6"/>
      <p:boldItalic r:id="rId7"/>
    </p:embeddedFont>
  </p:embeddedFontLst>
  <p:custDataLst>
    <p:tags r:id="rId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143" kern="1200">
        <a:solidFill>
          <a:schemeClr val="tx1"/>
        </a:solidFill>
        <a:latin typeface="Arial"/>
        <a:ea typeface="+mn-ea"/>
        <a:cs typeface="+mn-cs"/>
      </a:defRPr>
    </a:lvl1pPr>
    <a:lvl2pPr marL="326532" algn="l" rtl="0" fontAlgn="base">
      <a:spcBef>
        <a:spcPct val="0"/>
      </a:spcBef>
      <a:spcAft>
        <a:spcPct val="0"/>
      </a:spcAft>
      <a:defRPr sz="2143" kern="1200">
        <a:solidFill>
          <a:schemeClr val="tx1"/>
        </a:solidFill>
        <a:latin typeface="Arial"/>
        <a:ea typeface="+mn-ea"/>
        <a:cs typeface="+mn-cs"/>
      </a:defRPr>
    </a:lvl2pPr>
    <a:lvl3pPr marL="653064" algn="l" rtl="0" fontAlgn="base">
      <a:spcBef>
        <a:spcPct val="0"/>
      </a:spcBef>
      <a:spcAft>
        <a:spcPct val="0"/>
      </a:spcAft>
      <a:defRPr sz="2143" kern="1200">
        <a:solidFill>
          <a:schemeClr val="tx1"/>
        </a:solidFill>
        <a:latin typeface="Arial"/>
        <a:ea typeface="+mn-ea"/>
        <a:cs typeface="+mn-cs"/>
      </a:defRPr>
    </a:lvl3pPr>
    <a:lvl4pPr marL="979597" algn="l" rtl="0" fontAlgn="base">
      <a:spcBef>
        <a:spcPct val="0"/>
      </a:spcBef>
      <a:spcAft>
        <a:spcPct val="0"/>
      </a:spcAft>
      <a:defRPr sz="2143" kern="1200">
        <a:solidFill>
          <a:schemeClr val="tx1"/>
        </a:solidFill>
        <a:latin typeface="Arial"/>
        <a:ea typeface="+mn-ea"/>
        <a:cs typeface="+mn-cs"/>
      </a:defRPr>
    </a:lvl4pPr>
    <a:lvl5pPr marL="1306129" algn="l" rtl="0" fontAlgn="base">
      <a:spcBef>
        <a:spcPct val="0"/>
      </a:spcBef>
      <a:spcAft>
        <a:spcPct val="0"/>
      </a:spcAft>
      <a:defRPr sz="2143" kern="1200">
        <a:solidFill>
          <a:schemeClr val="tx1"/>
        </a:solidFill>
        <a:latin typeface="Arial"/>
        <a:ea typeface="+mn-ea"/>
        <a:cs typeface="+mn-cs"/>
      </a:defRPr>
    </a:lvl5pPr>
    <a:lvl6pPr marL="1632661" algn="l" defTabSz="653064" rtl="0" eaLnBrk="1" latinLnBrk="0" hangingPunct="1">
      <a:defRPr sz="2143" kern="1200">
        <a:solidFill>
          <a:schemeClr val="tx1"/>
        </a:solidFill>
        <a:latin typeface="Arial"/>
        <a:ea typeface="+mn-ea"/>
        <a:cs typeface="+mn-cs"/>
      </a:defRPr>
    </a:lvl6pPr>
    <a:lvl7pPr marL="1959193" algn="l" defTabSz="653064" rtl="0" eaLnBrk="1" latinLnBrk="0" hangingPunct="1">
      <a:defRPr sz="2143" kern="1200">
        <a:solidFill>
          <a:schemeClr val="tx1"/>
        </a:solidFill>
        <a:latin typeface="Arial"/>
        <a:ea typeface="+mn-ea"/>
        <a:cs typeface="+mn-cs"/>
      </a:defRPr>
    </a:lvl7pPr>
    <a:lvl8pPr marL="2285726" algn="l" defTabSz="653064" rtl="0" eaLnBrk="1" latinLnBrk="0" hangingPunct="1">
      <a:defRPr sz="2143" kern="1200">
        <a:solidFill>
          <a:schemeClr val="tx1"/>
        </a:solidFill>
        <a:latin typeface="Arial"/>
        <a:ea typeface="+mn-ea"/>
        <a:cs typeface="+mn-cs"/>
      </a:defRPr>
    </a:lvl8pPr>
    <a:lvl9pPr marL="2612258" algn="l" defTabSz="653064" rtl="0" eaLnBrk="1" latinLnBrk="0" hangingPunct="1">
      <a:defRPr sz="2143" kern="1200">
        <a:solidFill>
          <a:schemeClr val="tx1"/>
        </a:solidFill>
        <a:latin typeface="Arial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12" userDrawn="1">
          <p15:clr>
            <a:srgbClr val="A4A3A4"/>
          </p15:clr>
        </p15:guide>
        <p15:guide id="2" pos="103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1482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4660"/>
  </p:normalViewPr>
  <p:slideViewPr>
    <p:cSldViewPr>
      <p:cViewPr>
        <p:scale>
          <a:sx n="80" d="100"/>
          <a:sy n="80" d="100"/>
        </p:scale>
        <p:origin x="-5784" y="-2048"/>
      </p:cViewPr>
      <p:guideLst>
        <p:guide orient="horz" pos="6912"/>
        <p:guide pos="10368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heme" Target="theme/theme1.xml"/><Relationship Id="rId5" Type="http://schemas.openxmlformats.org/officeDocument/2006/relationships/font" Target="fonts/font3.fntdata"/><Relationship Id="rId10" Type="http://schemas.openxmlformats.org/officeDocument/2006/relationships/viewProps" Target="viewProps.xml"/><Relationship Id="rId4" Type="http://schemas.openxmlformats.org/officeDocument/2006/relationships/font" Target="fonts/font2.fntdata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9356" y="6817784"/>
            <a:ext cx="27979688" cy="4703233"/>
          </a:xfr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523" y="12435417"/>
            <a:ext cx="23043356" cy="5609167"/>
          </a:xfrm>
        </p:spPr>
        <p:txBody>
          <a:bodyPr/>
          <a:lstStyle>
            <a:defPPr>
              <a:defRPr kern="1200"/>
            </a:defPPr>
            <a:lvl1pPr marL="0" indent="0" algn="ctr">
              <a:buNone/>
              <a:defRPr/>
            </a:lvl1pPr>
            <a:lvl2pPr marL="304815" indent="0" algn="ctr">
              <a:buNone/>
              <a:defRPr/>
            </a:lvl2pPr>
            <a:lvl3pPr marL="609630" indent="0" algn="ctr">
              <a:buNone/>
              <a:defRPr/>
            </a:lvl3pPr>
            <a:lvl4pPr marL="914446" indent="0" algn="ctr">
              <a:buNone/>
              <a:defRPr/>
            </a:lvl4pPr>
            <a:lvl5pPr marL="1219261" indent="0" algn="ctr">
              <a:buNone/>
              <a:defRPr/>
            </a:lvl5pPr>
            <a:lvl6pPr marL="1524076" indent="0" algn="ctr">
              <a:buNone/>
              <a:defRPr/>
            </a:lvl6pPr>
            <a:lvl7pPr marL="1828891" indent="0" algn="ctr">
              <a:buNone/>
              <a:defRPr/>
            </a:lvl7pPr>
            <a:lvl8pPr marL="2133707" indent="0" algn="ctr">
              <a:buNone/>
              <a:defRPr/>
            </a:lvl8pPr>
            <a:lvl9pPr marL="2438522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832F7583-1F2E-4A0D-89A2-8757FB6C04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81079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E7C20414-372A-41A8-9C7E-815AA41B1C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55789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5" y="14102293"/>
            <a:ext cx="27980878" cy="4358217"/>
          </a:xfrm>
        </p:spPr>
        <p:txBody>
          <a:bodyPr anchor="t"/>
          <a:lstStyle>
            <a:defPPr>
              <a:defRPr kern="1200"/>
            </a:defPPr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5" y="9301692"/>
            <a:ext cx="27980878" cy="4800600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333"/>
            </a:lvl1pPr>
            <a:lvl2pPr marL="304815" indent="0">
              <a:buNone/>
              <a:defRPr sz="1200"/>
            </a:lvl2pPr>
            <a:lvl3pPr marL="609630" indent="0">
              <a:buNone/>
              <a:defRPr sz="1067"/>
            </a:lvl3pPr>
            <a:lvl4pPr marL="914446" indent="0">
              <a:buNone/>
              <a:defRPr sz="933"/>
            </a:lvl4pPr>
            <a:lvl5pPr marL="1219261" indent="0">
              <a:buNone/>
              <a:defRPr sz="933"/>
            </a:lvl5pPr>
            <a:lvl6pPr marL="1524076" indent="0">
              <a:buNone/>
              <a:defRPr sz="933"/>
            </a:lvl6pPr>
            <a:lvl7pPr marL="1828891" indent="0">
              <a:buNone/>
              <a:defRPr sz="933"/>
            </a:lvl7pPr>
            <a:lvl8pPr marL="2133707" indent="0">
              <a:buNone/>
              <a:defRPr sz="933"/>
            </a:lvl8pPr>
            <a:lvl9pPr marL="2438522" indent="0">
              <a:buNone/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0F90D1AA-2AB5-4265-A84E-A08A77402E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77896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6635" y="5121275"/>
            <a:ext cx="14755416" cy="14483293"/>
          </a:xfrm>
        </p:spPr>
        <p:txBody>
          <a:bodyPr/>
          <a:lstStyle>
            <a:defPPr>
              <a:defRPr kern="1200"/>
            </a:defPPr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16352" y="5121275"/>
            <a:ext cx="14756606" cy="14483293"/>
          </a:xfrm>
        </p:spPr>
        <p:txBody>
          <a:bodyPr/>
          <a:lstStyle>
            <a:defPPr>
              <a:defRPr kern="1200"/>
            </a:defPPr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2107C36F-0099-4FE0-ACAF-B1039AAFBC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03239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444" y="878417"/>
            <a:ext cx="29627512" cy="3657600"/>
          </a:xfrm>
        </p:spPr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444" y="4912784"/>
            <a:ext cx="14544675" cy="2046817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444" y="6959600"/>
            <a:ext cx="14544675" cy="12643908"/>
          </a:xfrm>
        </p:spPr>
        <p:txBody>
          <a:bodyPr/>
          <a:lstStyle>
            <a:defPPr>
              <a:defRPr kern="1200"/>
            </a:defPPr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328" y="4912784"/>
            <a:ext cx="14550630" cy="2046817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328" y="6959600"/>
            <a:ext cx="14550630" cy="12643908"/>
          </a:xfrm>
        </p:spPr>
        <p:txBody>
          <a:bodyPr/>
          <a:lstStyle>
            <a:defPPr>
              <a:defRPr kern="1200"/>
            </a:defPPr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30135CE0-8D06-4438-94EA-8ECC994DF4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50584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02464342-44A8-4BF0-82F7-BEF55BE6F5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63017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C58F61E3-F1B1-4C93-8E0B-A94AC7364D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8903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444" y="874184"/>
            <a:ext cx="10829925" cy="3717925"/>
          </a:xfrm>
        </p:spPr>
        <p:txBody>
          <a:bodyPr anchor="b"/>
          <a:lstStyle>
            <a:defPPr>
              <a:defRPr kern="1200"/>
            </a:defPPr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656" y="874184"/>
            <a:ext cx="18402300" cy="18729325"/>
          </a:xfrm>
        </p:spPr>
        <p:txBody>
          <a:bodyPr/>
          <a:lstStyle>
            <a:defPPr>
              <a:defRPr kern="1200"/>
            </a:defPPr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444" y="4592109"/>
            <a:ext cx="10829925" cy="15011400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C0F6AF16-7A4E-4CCF-8238-DA2023A0ED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92743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1997" y="15361709"/>
            <a:ext cx="19751280" cy="1813983"/>
          </a:xfrm>
        </p:spPr>
        <p:txBody>
          <a:bodyPr anchor="b"/>
          <a:lstStyle>
            <a:defPPr>
              <a:defRPr kern="1200"/>
            </a:defPPr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1997" y="1961092"/>
            <a:ext cx="19751280" cy="13166725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1997" y="17175693"/>
            <a:ext cx="19751280" cy="2574925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56C9C478-6178-4E05-8724-034EA27743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20334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49CBABAE-C7B7-4F8E-A01D-1845599FDD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166110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867269" y="879475"/>
            <a:ext cx="7405688" cy="18725093"/>
          </a:xfrm>
        </p:spPr>
        <p:txBody>
          <a:bodyPr vert="eaVert"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6635" y="879475"/>
            <a:ext cx="22106334" cy="18725093"/>
          </a:xfr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EF7E91C4-4AF7-40C1-B437-FA58F4C898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47804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646635" y="879475"/>
            <a:ext cx="29626322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3" tIns="235127" rIns="470253" bIns="235127" anchor="ctr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46635" y="5121275"/>
            <a:ext cx="29626322" cy="14483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3" tIns="235127" rIns="470253" bIns="23512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646635" y="19985568"/>
            <a:ext cx="7680722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3" tIns="235127" rIns="470253" bIns="23512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3135999">
              <a:defRPr sz="48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247834" y="19985568"/>
            <a:ext cx="10423922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3" tIns="235127" rIns="470253" bIns="23512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ctr" defTabSz="3135999">
              <a:defRPr sz="48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3592234" y="19985568"/>
            <a:ext cx="7680722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3" tIns="235127" rIns="470253" bIns="23512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3135999">
              <a:defRPr sz="4800" smtClean="0">
                <a:latin typeface="Arial" pitchFamily="34" charset="0"/>
              </a:defRPr>
            </a:lvl1pPr>
          </a:lstStyle>
          <a:p>
            <a:pPr>
              <a:defRPr/>
            </a:pPr>
            <a:fld id="{9A1A43B9-AFC3-461A-A4D0-5B0FD2995B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New picture"/>
          <p:cNvPicPr/>
          <p:nvPr/>
        </p:nvPicPr>
        <p:blipFill>
          <a:blip r:embed="rId13"/>
          <a:stretch>
            <a:fillRect/>
          </a:stretch>
        </p:blipFill>
        <p:spPr>
          <a:xfrm rot="16200000">
            <a:off x="-11074400" y="10972800"/>
            <a:ext cx="14274800" cy="3937000"/>
          </a:xfrm>
          <a:prstGeom prst="rect">
            <a:avLst/>
          </a:prstGeom>
        </p:spPr>
      </p:pic>
      <p:pic>
        <p:nvPicPr>
          <p:cNvPr id="1032" name="New picture"/>
          <p:cNvPicPr/>
          <p:nvPr/>
        </p:nvPicPr>
        <p:blipFill>
          <a:blip r:embed="rId13"/>
          <a:stretch>
            <a:fillRect/>
          </a:stretch>
        </p:blipFill>
        <p:spPr>
          <a:xfrm rot="5400000">
            <a:off x="29718000" y="10972800"/>
            <a:ext cx="14274800" cy="3937000"/>
          </a:xfrm>
          <a:prstGeom prst="rect">
            <a:avLst/>
          </a:prstGeom>
        </p:spPr>
      </p:pic>
      <p:pic>
        <p:nvPicPr>
          <p:cNvPr id="1033" name="New picture"/>
          <p:cNvPicPr/>
          <p:nvPr/>
        </p:nvPicPr>
        <p:blipFill>
          <a:blip r:embed="rId14"/>
          <a:stretch>
            <a:fillRect/>
          </a:stretch>
        </p:blipFill>
        <p:spPr>
          <a:xfrm>
            <a:off x="1460500" y="22453600"/>
            <a:ext cx="29997400" cy="1447800"/>
          </a:xfrm>
          <a:prstGeom prst="rect">
            <a:avLst/>
          </a:prstGeom>
        </p:spPr>
      </p:pic>
      <p:sp>
        <p:nvSpPr>
          <p:cNvPr id="1034" name="New shape"/>
          <p:cNvSpPr/>
          <p:nvPr/>
        </p:nvSpPr>
        <p:spPr>
          <a:xfrm>
            <a:off x="1460500" y="23025100"/>
            <a:ext cx="164592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560">
                <a:solidFill>
                  <a:srgbClr val="808080"/>
                </a:solidFill>
              </a:rPr>
              <a:t>Template ID: intuitivecerulean  Size: 36x24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defPPr>
        <a:defRPr kern="1200"/>
      </a:defPPr>
      <a:lvl1pPr algn="ctr" defTabSz="3135999" rtl="0" eaLnBrk="0" fontAlgn="base" hangingPunct="0">
        <a:spcBef>
          <a:spcPct val="0"/>
        </a:spcBef>
        <a:spcAft>
          <a:spcPct val="0"/>
        </a:spcAft>
        <a:defRPr sz="15134">
          <a:solidFill>
            <a:schemeClr val="tx2"/>
          </a:solidFill>
          <a:latin typeface="+mj-lt"/>
          <a:ea typeface="+mj-ea"/>
          <a:cs typeface="+mj-cs"/>
        </a:defRPr>
      </a:lvl1pPr>
      <a:lvl2pPr algn="ctr" defTabSz="3135999" rtl="0" eaLnBrk="0" fontAlgn="base" hangingPunct="0">
        <a:spcBef>
          <a:spcPct val="0"/>
        </a:spcBef>
        <a:spcAft>
          <a:spcPct val="0"/>
        </a:spcAft>
        <a:defRPr sz="15134">
          <a:solidFill>
            <a:schemeClr val="tx2"/>
          </a:solidFill>
          <a:latin typeface="Arial" pitchFamily="34" charset="0"/>
        </a:defRPr>
      </a:lvl2pPr>
      <a:lvl3pPr algn="ctr" defTabSz="3135999" rtl="0" eaLnBrk="0" fontAlgn="base" hangingPunct="0">
        <a:spcBef>
          <a:spcPct val="0"/>
        </a:spcBef>
        <a:spcAft>
          <a:spcPct val="0"/>
        </a:spcAft>
        <a:defRPr sz="15134">
          <a:solidFill>
            <a:schemeClr val="tx2"/>
          </a:solidFill>
          <a:latin typeface="Arial" pitchFamily="34" charset="0"/>
        </a:defRPr>
      </a:lvl3pPr>
      <a:lvl4pPr algn="ctr" defTabSz="3135999" rtl="0" eaLnBrk="0" fontAlgn="base" hangingPunct="0">
        <a:spcBef>
          <a:spcPct val="0"/>
        </a:spcBef>
        <a:spcAft>
          <a:spcPct val="0"/>
        </a:spcAft>
        <a:defRPr sz="15134">
          <a:solidFill>
            <a:schemeClr val="tx2"/>
          </a:solidFill>
          <a:latin typeface="Arial" pitchFamily="34" charset="0"/>
        </a:defRPr>
      </a:lvl4pPr>
      <a:lvl5pPr algn="ctr" defTabSz="3135999" rtl="0" eaLnBrk="0" fontAlgn="base" hangingPunct="0">
        <a:spcBef>
          <a:spcPct val="0"/>
        </a:spcBef>
        <a:spcAft>
          <a:spcPct val="0"/>
        </a:spcAft>
        <a:defRPr sz="15134">
          <a:solidFill>
            <a:schemeClr val="tx2"/>
          </a:solidFill>
          <a:latin typeface="Arial" pitchFamily="34" charset="0"/>
        </a:defRPr>
      </a:lvl5pPr>
      <a:lvl6pPr marL="304815" algn="ctr" defTabSz="3135999" rtl="0" fontAlgn="base">
        <a:spcBef>
          <a:spcPct val="0"/>
        </a:spcBef>
        <a:spcAft>
          <a:spcPct val="0"/>
        </a:spcAft>
        <a:defRPr sz="15134">
          <a:solidFill>
            <a:schemeClr val="tx2"/>
          </a:solidFill>
          <a:latin typeface="Arial" pitchFamily="34" charset="0"/>
        </a:defRPr>
      </a:lvl6pPr>
      <a:lvl7pPr marL="609630" algn="ctr" defTabSz="3135999" rtl="0" fontAlgn="base">
        <a:spcBef>
          <a:spcPct val="0"/>
        </a:spcBef>
        <a:spcAft>
          <a:spcPct val="0"/>
        </a:spcAft>
        <a:defRPr sz="15134">
          <a:solidFill>
            <a:schemeClr val="tx2"/>
          </a:solidFill>
          <a:latin typeface="Arial" pitchFamily="34" charset="0"/>
        </a:defRPr>
      </a:lvl7pPr>
      <a:lvl8pPr marL="914446" algn="ctr" defTabSz="3135999" rtl="0" fontAlgn="base">
        <a:spcBef>
          <a:spcPct val="0"/>
        </a:spcBef>
        <a:spcAft>
          <a:spcPct val="0"/>
        </a:spcAft>
        <a:defRPr sz="15134">
          <a:solidFill>
            <a:schemeClr val="tx2"/>
          </a:solidFill>
          <a:latin typeface="Arial" pitchFamily="34" charset="0"/>
        </a:defRPr>
      </a:lvl8pPr>
      <a:lvl9pPr marL="1219261" algn="ctr" defTabSz="3135999" rtl="0" fontAlgn="base">
        <a:spcBef>
          <a:spcPct val="0"/>
        </a:spcBef>
        <a:spcAft>
          <a:spcPct val="0"/>
        </a:spcAft>
        <a:defRPr sz="15134">
          <a:solidFill>
            <a:schemeClr val="tx2"/>
          </a:solidFill>
          <a:latin typeface="Arial" pitchFamily="34" charset="0"/>
        </a:defRPr>
      </a:lvl9pPr>
    </p:titleStyle>
    <p:bodyStyle>
      <a:defPPr>
        <a:defRPr kern="1200"/>
      </a:defPPr>
      <a:lvl1pPr marL="1176926" indent="-1176926" algn="l" defTabSz="3135999" rtl="0" eaLnBrk="0" fontAlgn="base" hangingPunct="0">
        <a:spcBef>
          <a:spcPct val="20000"/>
        </a:spcBef>
        <a:spcAft>
          <a:spcPct val="0"/>
        </a:spcAft>
        <a:buChar char="•"/>
        <a:defRPr sz="11001">
          <a:solidFill>
            <a:schemeClr val="tx1"/>
          </a:solidFill>
          <a:latin typeface="+mn-lt"/>
          <a:ea typeface="+mn-ea"/>
          <a:cs typeface="+mn-cs"/>
        </a:defRPr>
      </a:lvl1pPr>
      <a:lvl2pPr marL="2548594" indent="-981124" algn="l" defTabSz="3135999" rtl="0" eaLnBrk="0" fontAlgn="base" hangingPunct="0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</a:defRPr>
      </a:lvl2pPr>
      <a:lvl3pPr marL="3920263" indent="-784265" algn="l" defTabSz="3135999" rtl="0" eaLnBrk="0" fontAlgn="base" hangingPunct="0">
        <a:spcBef>
          <a:spcPct val="20000"/>
        </a:spcBef>
        <a:spcAft>
          <a:spcPct val="0"/>
        </a:spcAft>
        <a:buChar char="•"/>
        <a:defRPr sz="8200">
          <a:solidFill>
            <a:schemeClr val="tx1"/>
          </a:solidFill>
          <a:latin typeface="+mn-lt"/>
        </a:defRPr>
      </a:lvl3pPr>
      <a:lvl4pPr marL="5486674" indent="-784265" algn="l" defTabSz="3135999" rtl="0" eaLnBrk="0" fontAlgn="base" hangingPunct="0">
        <a:spcBef>
          <a:spcPct val="20000"/>
        </a:spcBef>
        <a:spcAft>
          <a:spcPct val="0"/>
        </a:spcAft>
        <a:buChar char="–"/>
        <a:defRPr sz="6934">
          <a:solidFill>
            <a:schemeClr val="tx1"/>
          </a:solidFill>
          <a:latin typeface="+mn-lt"/>
        </a:defRPr>
      </a:lvl4pPr>
      <a:lvl5pPr marL="7054145" indent="-783206" algn="l" defTabSz="3135999" rtl="0" eaLnBrk="0" fontAlgn="base" hangingPunct="0">
        <a:spcBef>
          <a:spcPct val="20000"/>
        </a:spcBef>
        <a:spcAft>
          <a:spcPct val="0"/>
        </a:spcAft>
        <a:buChar char="»"/>
        <a:defRPr sz="6934">
          <a:solidFill>
            <a:schemeClr val="tx1"/>
          </a:solidFill>
          <a:latin typeface="+mn-lt"/>
        </a:defRPr>
      </a:lvl5pPr>
      <a:lvl6pPr marL="7358960" indent="-783206" algn="l" defTabSz="3135999" rtl="0" fontAlgn="base">
        <a:spcBef>
          <a:spcPct val="20000"/>
        </a:spcBef>
        <a:spcAft>
          <a:spcPct val="0"/>
        </a:spcAft>
        <a:buChar char="»"/>
        <a:defRPr sz="6934">
          <a:solidFill>
            <a:schemeClr val="tx1"/>
          </a:solidFill>
          <a:latin typeface="+mn-lt"/>
        </a:defRPr>
      </a:lvl6pPr>
      <a:lvl7pPr marL="7663775" indent="-783206" algn="l" defTabSz="3135999" rtl="0" fontAlgn="base">
        <a:spcBef>
          <a:spcPct val="20000"/>
        </a:spcBef>
        <a:spcAft>
          <a:spcPct val="0"/>
        </a:spcAft>
        <a:buChar char="»"/>
        <a:defRPr sz="6934">
          <a:solidFill>
            <a:schemeClr val="tx1"/>
          </a:solidFill>
          <a:latin typeface="+mn-lt"/>
        </a:defRPr>
      </a:lvl7pPr>
      <a:lvl8pPr marL="7968590" indent="-783206" algn="l" defTabSz="3135999" rtl="0" fontAlgn="base">
        <a:spcBef>
          <a:spcPct val="20000"/>
        </a:spcBef>
        <a:spcAft>
          <a:spcPct val="0"/>
        </a:spcAft>
        <a:buChar char="»"/>
        <a:defRPr sz="6934">
          <a:solidFill>
            <a:schemeClr val="tx1"/>
          </a:solidFill>
          <a:latin typeface="+mn-lt"/>
        </a:defRPr>
      </a:lvl8pPr>
      <a:lvl9pPr marL="8273406" indent="-783206" algn="l" defTabSz="3135999" rtl="0" fontAlgn="base">
        <a:spcBef>
          <a:spcPct val="20000"/>
        </a:spcBef>
        <a:spcAft>
          <a:spcPct val="0"/>
        </a:spcAft>
        <a:buChar char="»"/>
        <a:defRPr sz="6934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DCF1F8"/>
            </a:gs>
            <a:gs pos="100000">
              <a:srgbClr val="FFFFFF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0"/>
            <a:ext cx="32918400" cy="4316056"/>
          </a:xfrm>
          <a:prstGeom prst="rect">
            <a:avLst/>
          </a:prstGeom>
          <a:solidFill>
            <a:srgbClr val="1482A5"/>
          </a:solidFill>
          <a:ln w="9525">
            <a:noFill/>
            <a:miter lim="800000"/>
          </a:ln>
          <a:effectLst/>
        </p:spPr>
        <p:txBody>
          <a:bodyPr lIns="91440" tIns="45720" rIns="91440" bIns="45720" anchor="ctr"/>
          <a:lstStyle>
            <a:defPPr>
              <a:defRPr kern="1200"/>
            </a:defPPr>
          </a:lstStyle>
          <a:p>
            <a:pPr algn="ctr" defTabSz="3135999"/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D3B51F6E-41A5-4D7C-9B15-CDBAC096BAD1}"/>
              </a:ext>
            </a:extLst>
          </p:cNvPr>
          <p:cNvSpPr txBox="1"/>
          <p:nvPr/>
        </p:nvSpPr>
        <p:spPr>
          <a:xfrm>
            <a:off x="4267200" y="468434"/>
            <a:ext cx="24384000" cy="195829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defPPr>
              <a:defRPr kern="1200"/>
            </a:defPPr>
            <a:lvl1pPr marL="0" marR="0" indent="0" algn="l" defTabSz="37830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507516">
              <a:spcBef>
                <a:spcPct val="20000"/>
              </a:spcBef>
              <a:defRPr/>
            </a:pPr>
            <a:r>
              <a:rPr lang="en-US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Indexed Concatenation (I-Cat): A Method for Representing and Operating on Repeating Numbers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0A363635-BCEE-4B55-ADB3-58433C0697E0}"/>
              </a:ext>
            </a:extLst>
          </p:cNvPr>
          <p:cNvSpPr txBox="1"/>
          <p:nvPr/>
        </p:nvSpPr>
        <p:spPr>
          <a:xfrm>
            <a:off x="4267200" y="2766702"/>
            <a:ext cx="24384000" cy="128035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kern="1200"/>
            </a:defPPr>
            <a:lvl1pPr marL="0" marR="0" indent="0" algn="l" defTabSz="37610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Abigail Touma, Isaac Wolford, and Kenneth Caviness</a:t>
            </a:r>
          </a:p>
          <a:p>
            <a:pPr algn="ctr">
              <a:defRPr/>
            </a:pPr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School of Engineering and Physics, Department of Mathematics</a:t>
            </a:r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D199CE64-341D-4865-BAC0-9C2B0065B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012" y="13197843"/>
            <a:ext cx="7268693" cy="582201"/>
          </a:xfrm>
          <a:prstGeom prst="rect">
            <a:avLst/>
          </a:prstGeom>
          <a:solidFill>
            <a:srgbClr val="1482A5"/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kern="1200"/>
            </a:defPPr>
          </a:lstStyle>
          <a:p>
            <a:pPr algn="ctr" defTabSz="3135215">
              <a:defRPr/>
            </a:pP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 &amp; Examples</a:t>
            </a:r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660D2150-C4B6-4E14-B13B-A9330CA027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3" y="5572470"/>
            <a:ext cx="7268693" cy="32131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lIns="91440" tIns="91440" rIns="182880" bIns="91440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marL="285750" indent="-28575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Indexed Concatenation (I-Cat) notation is a method for representing numbers with repeating patterns in a structured way.</a:t>
            </a:r>
          </a:p>
          <a:p>
            <a:pPr marL="285750" indent="-28575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Instead of treating repeating decimals or numbers with repeating digits as unstructured expansions, they are written as compact objects (I-Cats).</a:t>
            </a:r>
          </a:p>
          <a:p>
            <a:pPr marL="285750" indent="-28575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makes patterns easier to identify and manipulate.</a:t>
            </a:r>
          </a:p>
          <a:p>
            <a:pPr marL="285750" indent="-28575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Standard numbers can be converted and used in operations using I-Cat notation.</a:t>
            </a: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56B51769-050A-4089-A605-7F5F55540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3" y="4755723"/>
            <a:ext cx="7268693" cy="582201"/>
          </a:xfrm>
          <a:prstGeom prst="rect">
            <a:avLst/>
          </a:prstGeom>
          <a:solidFill>
            <a:srgbClr val="1482A5"/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kern="1200"/>
            </a:defPPr>
          </a:lstStyle>
          <a:p>
            <a:pPr algn="ctr" defTabSz="3135215">
              <a:defRPr/>
            </a:pP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26" name="TextBox 19">
            <a:extLst>
              <a:ext uri="{FF2B5EF4-FFF2-40B4-BE49-F238E27FC236}">
                <a16:creationId xmlns:a16="http://schemas.microsoft.com/office/drawing/2014/main" id="{08B27C09-FD47-44CE-8AD0-B239C49C4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3" y="9953058"/>
            <a:ext cx="7268693" cy="2874633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lIns="91440" tIns="91440" rIns="182880" bIns="91440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marL="285750" indent="-28575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First, the repeating block in a number is identified.</a:t>
            </a:r>
          </a:p>
          <a:p>
            <a:pPr marL="285750" indent="-28575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repeating sequence is represented as a single-structured unit (I-Cat)</a:t>
            </a:r>
          </a:p>
          <a:p>
            <a:pPr marL="285750" indent="-28575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number is rewritten using this compact form.</a:t>
            </a:r>
          </a:p>
          <a:p>
            <a:pPr marL="285750" indent="-28575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Now, different operations can be performed using I-Cat notation instead of individual digits.</a:t>
            </a:r>
          </a:p>
          <a:p>
            <a:pPr marL="285750" indent="-28575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I-Cat notation uses the symbol € to represent indexed concatenation.</a:t>
            </a:r>
          </a:p>
        </p:txBody>
      </p:sp>
      <p:sp>
        <p:nvSpPr>
          <p:cNvPr id="27" name="Rectangle 10">
            <a:extLst>
              <a:ext uri="{FF2B5EF4-FFF2-40B4-BE49-F238E27FC236}">
                <a16:creationId xmlns:a16="http://schemas.microsoft.com/office/drawing/2014/main" id="{98D14DB5-1AFE-4838-B666-0B2184BF5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3" y="9135936"/>
            <a:ext cx="7268693" cy="582201"/>
          </a:xfrm>
          <a:prstGeom prst="rect">
            <a:avLst/>
          </a:prstGeom>
          <a:solidFill>
            <a:srgbClr val="1482A5"/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kern="1200"/>
            </a:defPPr>
          </a:lstStyle>
          <a:p>
            <a:pPr algn="ctr" defTabSz="3135215">
              <a:defRPr/>
            </a:pP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I-Cat Methods</a:t>
            </a:r>
          </a:p>
        </p:txBody>
      </p:sp>
      <p:sp>
        <p:nvSpPr>
          <p:cNvPr id="24" name="TextBox 19">
            <a:extLst>
              <a:ext uri="{FF2B5EF4-FFF2-40B4-BE49-F238E27FC236}">
                <a16:creationId xmlns:a16="http://schemas.microsoft.com/office/drawing/2014/main" id="{E26A9AEA-EC62-46B3-990F-8C6758BC7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78419" y="17847956"/>
            <a:ext cx="7268693" cy="1520416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lIns="91440" tIns="91440" rIns="91440" bIns="91440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More complex operations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Computational applications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Develop more efficient algorithms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Continue analyzing patterns</a:t>
            </a:r>
          </a:p>
        </p:txBody>
      </p:sp>
      <p:sp>
        <p:nvSpPr>
          <p:cNvPr id="25" name="Rectangle 10">
            <a:extLst>
              <a:ext uri="{FF2B5EF4-FFF2-40B4-BE49-F238E27FC236}">
                <a16:creationId xmlns:a16="http://schemas.microsoft.com/office/drawing/2014/main" id="{3134479B-87AD-48CB-BE42-1B7030F3B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78419" y="17159259"/>
            <a:ext cx="7268693" cy="582201"/>
          </a:xfrm>
          <a:prstGeom prst="rect">
            <a:avLst/>
          </a:prstGeom>
          <a:solidFill>
            <a:srgbClr val="1482A5"/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kern="1200"/>
            </a:defPPr>
          </a:lstStyle>
          <a:p>
            <a:pPr algn="ctr" defTabSz="3135215">
              <a:defRPr/>
            </a:pP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Work</a:t>
            </a:r>
          </a:p>
        </p:txBody>
      </p:sp>
      <p:sp>
        <p:nvSpPr>
          <p:cNvPr id="28" name="TextBox 19">
            <a:extLst>
              <a:ext uri="{FF2B5EF4-FFF2-40B4-BE49-F238E27FC236}">
                <a16:creationId xmlns:a16="http://schemas.microsoft.com/office/drawing/2014/main" id="{6258151E-49CC-4DED-BAB7-C6568770C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79749" y="20273962"/>
            <a:ext cx="7268693" cy="843308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lIns="91440" tIns="91440" rIns="91440" bIns="91440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Special thanks to Dr. Kenneth Caviness for his guidance and support.</a:t>
            </a:r>
          </a:p>
        </p:txBody>
      </p:sp>
      <p:sp>
        <p:nvSpPr>
          <p:cNvPr id="29" name="Rectangle 10">
            <a:extLst>
              <a:ext uri="{FF2B5EF4-FFF2-40B4-BE49-F238E27FC236}">
                <a16:creationId xmlns:a16="http://schemas.microsoft.com/office/drawing/2014/main" id="{B159E2ED-58ED-4C4D-AADA-65963204C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78694" y="19581363"/>
            <a:ext cx="7268693" cy="582201"/>
          </a:xfrm>
          <a:prstGeom prst="rect">
            <a:avLst/>
          </a:prstGeom>
          <a:solidFill>
            <a:srgbClr val="1482A5"/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kern="1200"/>
            </a:defPPr>
          </a:lstStyle>
          <a:p>
            <a:pPr algn="ctr" defTabSz="3135215">
              <a:defRPr/>
            </a:pP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</a:t>
            </a:r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62B2D60D-B2E1-4903-BD59-716F7CEA06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78417" y="13741649"/>
            <a:ext cx="7268693" cy="1181862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lIns="91440" tIns="91440" rIns="91440" bIns="91440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Compact representation of repeating patterns.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Simplifies operations with infinite decimals.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Useful in mathematical and computational contexts.</a:t>
            </a:r>
          </a:p>
        </p:txBody>
      </p:sp>
      <p:sp>
        <p:nvSpPr>
          <p:cNvPr id="23" name="Rectangle 10">
            <a:extLst>
              <a:ext uri="{FF2B5EF4-FFF2-40B4-BE49-F238E27FC236}">
                <a16:creationId xmlns:a16="http://schemas.microsoft.com/office/drawing/2014/main" id="{649B2B52-1DC3-4E00-AA81-9A9BDF50D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05311" y="13052398"/>
            <a:ext cx="7268693" cy="582201"/>
          </a:xfrm>
          <a:prstGeom prst="rect">
            <a:avLst/>
          </a:prstGeom>
          <a:solidFill>
            <a:srgbClr val="1482A5"/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kern="1200"/>
            </a:defPPr>
          </a:lstStyle>
          <a:p>
            <a:pPr algn="ctr" defTabSz="3135215">
              <a:defRPr/>
            </a:pP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Applications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418E6029-BC8D-48A6-B73A-6AF8EE0DE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78419" y="15802465"/>
            <a:ext cx="7268693" cy="1181862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lIns="91440" tIns="91440" rIns="91440" bIns="91440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I-Cat notation provides a structured way to represent and work with repeating numbers. 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 simplifies both representation and operations.</a:t>
            </a:r>
          </a:p>
        </p:txBody>
      </p:sp>
      <p:sp>
        <p:nvSpPr>
          <p:cNvPr id="31" name="Rectangle 10">
            <a:extLst>
              <a:ext uri="{FF2B5EF4-FFF2-40B4-BE49-F238E27FC236}">
                <a16:creationId xmlns:a16="http://schemas.microsoft.com/office/drawing/2014/main" id="{6127A719-505A-4C44-8032-B19C962A0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78418" y="15113768"/>
            <a:ext cx="7268693" cy="582201"/>
          </a:xfrm>
          <a:prstGeom prst="rect">
            <a:avLst/>
          </a:prstGeom>
          <a:solidFill>
            <a:srgbClr val="1482A5"/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kern="1200"/>
            </a:defPPr>
          </a:lstStyle>
          <a:p>
            <a:pPr algn="ctr" defTabSz="3135215">
              <a:defRPr/>
            </a:pP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pic>
        <p:nvPicPr>
          <p:cNvPr id="2" name="Picture 2" descr="Southern Adventist University | Choose Chattanooga®">
            <a:extLst>
              <a:ext uri="{FF2B5EF4-FFF2-40B4-BE49-F238E27FC236}">
                <a16:creationId xmlns:a16="http://schemas.microsoft.com/office/drawing/2014/main" id="{3994A800-1F1F-B490-6674-C4B7A8712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53" y="100628"/>
            <a:ext cx="41148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BF71E88-A0A1-440B-ABF9-DBF8076C9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013" y="14031188"/>
            <a:ext cx="7268693" cy="3215432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lIns="91440" tIns="91440" rIns="182880" bIns="91440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Repeated Numbers to I-Cats:</a:t>
            </a:r>
          </a:p>
          <a:p>
            <a:pPr algn="ctr">
              <a:lnSpc>
                <a:spcPct val="110000"/>
              </a:lnSpc>
            </a:pPr>
            <a:endParaRPr lang="en-US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lnSpc>
                <a:spcPct val="110000"/>
              </a:lnSpc>
            </a:pPr>
            <a:endParaRPr lang="en-US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57DD92-2174-13DF-9BCF-253E4BFA32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8549" y="14553741"/>
            <a:ext cx="2908300" cy="5969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7BDF367-08F0-DF9E-D264-4756264A9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096" y="17551110"/>
            <a:ext cx="7268693" cy="356616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lIns="91440" tIns="91440" rIns="91440" bIns="91440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Addition Examples:</a:t>
            </a:r>
          </a:p>
          <a:p>
            <a:pPr algn="ctr">
              <a:lnSpc>
                <a:spcPct val="110000"/>
              </a:lnSpc>
            </a:pPr>
            <a:endParaRPr lang="en-US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lnSpc>
                <a:spcPct val="110000"/>
              </a:lnSpc>
            </a:pPr>
            <a:endParaRPr lang="en-US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31EC4C-50ED-1FA3-A522-A41AB3F42E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35358" y="5572470"/>
            <a:ext cx="8359763" cy="155448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lIns="91440" tIns="91440" rIns="91440" bIns="91440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Multiplication Examples:</a:t>
            </a:r>
          </a:p>
          <a:p>
            <a:pPr algn="ctr">
              <a:lnSpc>
                <a:spcPct val="110000"/>
              </a:lnSpc>
            </a:pPr>
            <a:endParaRPr lang="en-US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 = M/C method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Carries</a:t>
            </a: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3" name="Rectangle 10">
            <a:extLst>
              <a:ext uri="{FF2B5EF4-FFF2-40B4-BE49-F238E27FC236}">
                <a16:creationId xmlns:a16="http://schemas.microsoft.com/office/drawing/2014/main" id="{6F49D22B-21A3-8433-0D97-F04EE82FF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23635" y="4755722"/>
            <a:ext cx="8371486" cy="582201"/>
          </a:xfrm>
          <a:prstGeom prst="rect">
            <a:avLst/>
          </a:prstGeom>
          <a:solidFill>
            <a:srgbClr val="1482A5"/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kern="1200"/>
            </a:defPPr>
          </a:lstStyle>
          <a:p>
            <a:pPr algn="ctr" defTabSz="3135215">
              <a:defRPr/>
            </a:pP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 &amp; Examples (cont.)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92BEE1-3701-025B-B25B-F95324846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78694" y="5572470"/>
            <a:ext cx="7268693" cy="73152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lIns="91440" tIns="91440" rIns="91440" bIns="91440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I-Cat x I-Cat Example:</a:t>
            </a:r>
          </a:p>
          <a:p>
            <a:pPr algn="ctr">
              <a:lnSpc>
                <a:spcPct val="110000"/>
              </a:lnSpc>
            </a:pPr>
            <a:endParaRPr lang="en-US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662A17A-1ACF-5798-85E5-DC9D6712B66E}"/>
              </a:ext>
            </a:extLst>
          </p:cNvPr>
          <p:cNvGrpSpPr/>
          <p:nvPr/>
        </p:nvGrpSpPr>
        <p:grpSpPr>
          <a:xfrm>
            <a:off x="8755544" y="9177313"/>
            <a:ext cx="6743204" cy="3529874"/>
            <a:chOff x="9041671" y="10053754"/>
            <a:chExt cx="6743204" cy="3529874"/>
          </a:xfrm>
        </p:grpSpPr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50505D91-E574-2F7B-3E0E-5977FACE2C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10155" y="10053754"/>
              <a:ext cx="3474720" cy="3529874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B4D42461-26BA-4A57-EF64-9D88FA5AC0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41671" y="10053754"/>
              <a:ext cx="3106591" cy="1260016"/>
            </a:xfrm>
            <a:prstGeom prst="rect">
              <a:avLst/>
            </a:prstGeom>
          </p:spPr>
        </p:pic>
      </p:grpSp>
      <p:sp>
        <p:nvSpPr>
          <p:cNvPr id="37" name="Rectangle 10">
            <a:extLst>
              <a:ext uri="{FF2B5EF4-FFF2-40B4-BE49-F238E27FC236}">
                <a16:creationId xmlns:a16="http://schemas.microsoft.com/office/drawing/2014/main" id="{9E2B1263-E340-3921-4347-4A8AF3F28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78694" y="4755723"/>
            <a:ext cx="7268693" cy="582201"/>
          </a:xfrm>
          <a:prstGeom prst="rect">
            <a:avLst/>
          </a:prstGeom>
          <a:solidFill>
            <a:srgbClr val="1482A5"/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kern="1200"/>
            </a:defPPr>
          </a:lstStyle>
          <a:p>
            <a:pPr algn="ctr" defTabSz="3135215">
              <a:defRPr/>
            </a:pP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 &amp; Examples (cont.)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8FF7854-D008-3271-1B76-D3C5BAD8A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83367" y="5572470"/>
            <a:ext cx="7268693" cy="7955191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lIns="91440" tIns="91440" rIns="91440" bIns="91440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Addition Examples:</a:t>
            </a:r>
          </a:p>
          <a:p>
            <a:pPr algn="ctr">
              <a:lnSpc>
                <a:spcPct val="110000"/>
              </a:lnSpc>
            </a:pPr>
            <a:endParaRPr lang="en-US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lnSpc>
                <a:spcPct val="110000"/>
              </a:lnSpc>
            </a:pPr>
            <a:endParaRPr lang="en-US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3" name="Rectangle 10">
            <a:extLst>
              <a:ext uri="{FF2B5EF4-FFF2-40B4-BE49-F238E27FC236}">
                <a16:creationId xmlns:a16="http://schemas.microsoft.com/office/drawing/2014/main" id="{F9522775-0917-A637-2ED0-D78CA46CD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3367" y="4755723"/>
            <a:ext cx="7268693" cy="582201"/>
          </a:xfrm>
          <a:prstGeom prst="rect">
            <a:avLst/>
          </a:prstGeom>
          <a:solidFill>
            <a:srgbClr val="1482A5"/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kern="1200"/>
            </a:defPPr>
          </a:lstStyle>
          <a:p>
            <a:pPr algn="ctr" defTabSz="3135215">
              <a:defRPr/>
            </a:pP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 &amp; Examples (cont.)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79EC4A9-0F88-D131-2562-DD8B20A3EC14}"/>
              </a:ext>
            </a:extLst>
          </p:cNvPr>
          <p:cNvGrpSpPr/>
          <p:nvPr/>
        </p:nvGrpSpPr>
        <p:grpSpPr>
          <a:xfrm>
            <a:off x="8746170" y="6248461"/>
            <a:ext cx="6752578" cy="1969998"/>
            <a:chOff x="9041671" y="8083756"/>
            <a:chExt cx="6752578" cy="1969998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D8BDAF07-ACDC-E0CA-44A3-4C00FD7E8A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41671" y="8083756"/>
              <a:ext cx="3108960" cy="1331023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5DC67D21-CBB5-CCA9-5E11-141C04BAB4D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19529" y="8083756"/>
              <a:ext cx="3474720" cy="1969998"/>
            </a:xfrm>
            <a:prstGeom prst="rect">
              <a:avLst/>
            </a:prstGeom>
          </p:spPr>
        </p:pic>
      </p:grpSp>
      <p:pic>
        <p:nvPicPr>
          <p:cNvPr id="63" name="Picture 62">
            <a:extLst>
              <a:ext uri="{FF2B5EF4-FFF2-40B4-BE49-F238E27FC236}">
                <a16:creationId xmlns:a16="http://schemas.microsoft.com/office/drawing/2014/main" id="{21F3D84B-B416-4764-CC5A-799556D9A4E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638" y="18338253"/>
            <a:ext cx="3655260" cy="206023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63CAA6CC-D0DE-C436-EBF6-FC42E116B93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059" y="15237333"/>
            <a:ext cx="3383280" cy="612358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84FEF396-7E2A-B792-EA42-EECA63C1FE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99" y="15936383"/>
            <a:ext cx="4572000" cy="641195"/>
          </a:xfrm>
          <a:prstGeom prst="rect">
            <a:avLst/>
          </a:prstGeom>
        </p:spPr>
      </p:pic>
      <p:sp>
        <p:nvSpPr>
          <p:cNvPr id="2054" name="TextBox 2053">
            <a:extLst>
              <a:ext uri="{FF2B5EF4-FFF2-40B4-BE49-F238E27FC236}">
                <a16:creationId xmlns:a16="http://schemas.microsoft.com/office/drawing/2014/main" id="{2A313C7D-9821-8CDD-DA1E-5919B6C4E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84695" y="13802070"/>
            <a:ext cx="7223760" cy="73152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lIns="91440" tIns="91440" rIns="91440" bIns="91440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Multiplication Examples:</a:t>
            </a:r>
          </a:p>
          <a:p>
            <a:pPr algn="ctr">
              <a:lnSpc>
                <a:spcPct val="110000"/>
              </a:lnSpc>
            </a:pPr>
            <a:endParaRPr lang="en-US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lnSpc>
                <a:spcPct val="110000"/>
              </a:lnSpc>
            </a:pPr>
            <a:endParaRPr lang="en-US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b="0" i="1" dirty="0">
              <a:latin typeface="Cambria Math" panose="02040503050406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059" name="Picture 2058">
            <a:extLst>
              <a:ext uri="{FF2B5EF4-FFF2-40B4-BE49-F238E27FC236}">
                <a16:creationId xmlns:a16="http://schemas.microsoft.com/office/drawing/2014/main" id="{3EF30F8A-9952-F084-6E7B-9EB1307E538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9048" y="14305016"/>
            <a:ext cx="6535055" cy="5858548"/>
          </a:xfrm>
          <a:prstGeom prst="rect">
            <a:avLst/>
          </a:prstGeom>
        </p:spPr>
      </p:pic>
      <p:sp>
        <p:nvSpPr>
          <p:cNvPr id="2060" name="Rectangle 2059">
            <a:extLst>
              <a:ext uri="{FF2B5EF4-FFF2-40B4-BE49-F238E27FC236}">
                <a16:creationId xmlns:a16="http://schemas.microsoft.com/office/drawing/2014/main" id="{740165E8-6502-4369-62B6-7D830E42FC11}"/>
              </a:ext>
            </a:extLst>
          </p:cNvPr>
          <p:cNvSpPr/>
          <p:nvPr/>
        </p:nvSpPr>
        <p:spPr bwMode="auto">
          <a:xfrm>
            <a:off x="15087600" y="15392400"/>
            <a:ext cx="228600" cy="609600"/>
          </a:xfrm>
          <a:prstGeom prst="rect">
            <a:avLst/>
          </a:prstGeom>
          <a:solidFill>
            <a:srgbClr val="FFFF00">
              <a:alpha val="2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7037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2062" name="Picture 2061">
            <a:extLst>
              <a:ext uri="{FF2B5EF4-FFF2-40B4-BE49-F238E27FC236}">
                <a16:creationId xmlns:a16="http://schemas.microsoft.com/office/drawing/2014/main" id="{BF5F4C9B-2239-9822-9A6C-E99DDF205E5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6035" y="6249485"/>
            <a:ext cx="4826844" cy="5854408"/>
          </a:xfrm>
          <a:prstGeom prst="rect">
            <a:avLst/>
          </a:prstGeom>
        </p:spPr>
      </p:pic>
      <p:pic>
        <p:nvPicPr>
          <p:cNvPr id="2064" name="Picture 2063">
            <a:extLst>
              <a:ext uri="{FF2B5EF4-FFF2-40B4-BE49-F238E27FC236}">
                <a16:creationId xmlns:a16="http://schemas.microsoft.com/office/drawing/2014/main" id="{46463C44-30E2-4529-CA50-2F6100785FA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37599" y="12247837"/>
            <a:ext cx="7955280" cy="8659481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intuitivecerulean|08-2022"/>
</p:tagLst>
</file>

<file path=ppt/theme/theme1.xml><?xml version="1.0" encoding="utf-8"?>
<a:theme xmlns:a="http://schemas.openxmlformats.org/drawingml/2006/main" name="Default Design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Default Desig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7037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7037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8359</TotalTime>
  <Words>278</Words>
  <Application>Microsoft Macintosh PowerPoint</Application>
  <PresentationFormat>Custom</PresentationFormat>
  <Paragraphs>147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Cambria Math</vt:lpstr>
      <vt:lpstr>Open Sans</vt:lpstr>
      <vt:lpstr>Arial</vt:lpstr>
      <vt:lpstr>Default Design</vt:lpstr>
      <vt:lpstr>PowerPoint Presentation</vt:lpstr>
    </vt:vector>
  </TitlesOfParts>
  <Company>Graphicsland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of a scientific poster</dc:title>
  <dc:subject>Free Research Poster</dc:subject>
  <dc:creator>Graphicsland/MakeSigns.com</dc:creator>
  <cp:keywords>scientific, research, template, custom, poster, presentation, symposium, printing, PowerPoint, create, design, example, sample, download</cp:keywords>
  <dc:description>These templates are offered for free to help your create a poster ranging from nursing research posters to psychology research posters.</dc:description>
  <cp:lastModifiedBy>Abigail Touma</cp:lastModifiedBy>
  <cp:revision>99</cp:revision>
  <dcterms:modified xsi:type="dcterms:W3CDTF">2026-04-08T15:07:24Z</dcterms:modified>
  <cp:category>research posters 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3188ad8-4875-42e6-925c-bd11f6824504_Enabled">
    <vt:lpwstr>true</vt:lpwstr>
  </property>
  <property fmtid="{D5CDD505-2E9C-101B-9397-08002B2CF9AE}" pid="3" name="MSIP_Label_33188ad8-4875-42e6-925c-bd11f6824504_SetDate">
    <vt:lpwstr>2026-04-02T21:32:13Z</vt:lpwstr>
  </property>
  <property fmtid="{D5CDD505-2E9C-101B-9397-08002B2CF9AE}" pid="4" name="MSIP_Label_33188ad8-4875-42e6-925c-bd11f6824504_Method">
    <vt:lpwstr>Standard</vt:lpwstr>
  </property>
  <property fmtid="{D5CDD505-2E9C-101B-9397-08002B2CF9AE}" pid="5" name="MSIP_Label_33188ad8-4875-42e6-925c-bd11f6824504_Name">
    <vt:lpwstr>defa4170-0d19-0005-0004-bc88714345d2</vt:lpwstr>
  </property>
  <property fmtid="{D5CDD505-2E9C-101B-9397-08002B2CF9AE}" pid="6" name="MSIP_Label_33188ad8-4875-42e6-925c-bd11f6824504_SiteId">
    <vt:lpwstr>8143a300-2c64-4dd4-bb14-bcd3f04c1963</vt:lpwstr>
  </property>
  <property fmtid="{D5CDD505-2E9C-101B-9397-08002B2CF9AE}" pid="7" name="MSIP_Label_33188ad8-4875-42e6-925c-bd11f6824504_ActionId">
    <vt:lpwstr>f89ed4e8-219b-4974-ac4d-06e9a29b6b19</vt:lpwstr>
  </property>
  <property fmtid="{D5CDD505-2E9C-101B-9397-08002B2CF9AE}" pid="8" name="MSIP_Label_33188ad8-4875-42e6-925c-bd11f6824504_ContentBits">
    <vt:lpwstr>0</vt:lpwstr>
  </property>
  <property fmtid="{D5CDD505-2E9C-101B-9397-08002B2CF9AE}" pid="9" name="MSIP_Label_33188ad8-4875-42e6-925c-bd11f6824504_Tag">
    <vt:lpwstr>50, 3, 0, 1</vt:lpwstr>
  </property>
</Properties>
</file>